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Inter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bold.fntdata"/><Relationship Id="rId6" Type="http://schemas.openxmlformats.org/officeDocument/2006/relationships/slide" Target="slides/slide2.xml"/><Relationship Id="rId18" Type="http://schemas.openxmlformats.org/officeDocument/2006/relationships/font" Target="fonts/Inter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110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" name="Google Shape;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496119" y="1523330"/>
            <a:ext cx="2304306" cy="266402"/>
          </a:xfrm>
          <a:prstGeom prst="roundRect">
            <a:avLst>
              <a:gd fmla="val 17880" name="adj"/>
            </a:avLst>
          </a:prstGeom>
          <a:solidFill>
            <a:srgbClr val="0A0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581174" y="1565821"/>
            <a:ext cx="2134195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DSY1106 – DESARROLLO FULLSTACK III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496119" y="1846436"/>
            <a:ext cx="3891558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Evaluación Parcial N°2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496119" y="2346127"/>
            <a:ext cx="315404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Implementación Frontend y Backend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496119" y="2780184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Innovatech Solutions</a:t>
            </a: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– Plataforma Inteligente para la gestión integral de proyectos tecnológicos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496119" y="3393281"/>
            <a:ext cx="47227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Richard Moreano · Mayo 2026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110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4754" y="365447"/>
            <a:ext cx="3309417" cy="441260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>
            <a:off x="418654" y="505271"/>
            <a:ext cx="1183407" cy="222349"/>
          </a:xfrm>
          <a:prstGeom prst="roundRect">
            <a:avLst>
              <a:gd fmla="val 18076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495151" y="545902"/>
            <a:ext cx="1030412" cy="141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CONTEXTO DEL CASO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18654" y="767953"/>
            <a:ext cx="4194870" cy="373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4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50"/>
              <a:buFont typeface="Inter"/>
              <a:buNone/>
            </a:pPr>
            <a:r>
              <a:rPr b="1" i="0" lang="en-US" sz="2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Problema que Resolvemos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18654" y="1293093"/>
            <a:ext cx="4877693" cy="848767"/>
          </a:xfrm>
          <a:prstGeom prst="roundRect">
            <a:avLst>
              <a:gd fmla="val 5919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42999" y="1417439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+120 Empleados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542999" y="1664791"/>
            <a:ext cx="4629001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Organización de tamaño medio con proyectos tecnológicos en paralelo y equipos distribuidos.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18654" y="2242765"/>
            <a:ext cx="4877693" cy="848767"/>
          </a:xfrm>
          <a:prstGeom prst="roundRect">
            <a:avLst>
              <a:gd fmla="val 5919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542999" y="2367111"/>
            <a:ext cx="2187476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Sin Visibilidad en Tiempo Real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42999" y="2614464"/>
            <a:ext cx="4629001" cy="352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Los gestores no cuentan con información actualizada sobre el estado de cada proyecto.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18654" y="3192438"/>
            <a:ext cx="4877693" cy="672405"/>
          </a:xfrm>
          <a:prstGeom prst="roundRect">
            <a:avLst>
              <a:gd fmla="val 7472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42999" y="3316784"/>
            <a:ext cx="1801118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Recursos Mal Asignados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542999" y="3564136"/>
            <a:ext cx="4629001" cy="176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Asignación ineficiente del talento humano y técnico entre proyectos simultáneos.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418654" y="3965749"/>
            <a:ext cx="4877693" cy="672405"/>
          </a:xfrm>
          <a:prstGeom prst="roundRect">
            <a:avLst>
              <a:gd fmla="val 7472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542999" y="4090095"/>
            <a:ext cx="1495202" cy="1868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KPIs Sin Monitoreo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542999" y="4337447"/>
            <a:ext cx="4629001" cy="176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Indicadores clave de desempeño no se miden ni visualizan de forma centralizada.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/>
        </p:nvSpPr>
        <p:spPr>
          <a:xfrm>
            <a:off x="441871" y="355402"/>
            <a:ext cx="722858" cy="237976"/>
          </a:xfrm>
          <a:prstGeom prst="roundRect">
            <a:avLst>
              <a:gd fmla="val 17827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22387" y="398041"/>
            <a:ext cx="561826" cy="152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OBJETIVOS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41871" y="638324"/>
            <a:ext cx="4038005" cy="39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Objetivos de la Evaluación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871" y="1708621"/>
            <a:ext cx="5261297" cy="2572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5865" y="3077776"/>
            <a:ext cx="164262" cy="16426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/>
          <p:nvPr/>
        </p:nvSpPr>
        <p:spPr>
          <a:xfrm>
            <a:off x="566437" y="1911865"/>
            <a:ext cx="1135300" cy="14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566437" y="2099593"/>
            <a:ext cx="1135300" cy="221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 BFF y 2 microservicios con BD separada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" name="Google Shape;9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5134" y="3077776"/>
            <a:ext cx="164262" cy="16426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4438896" y="1911865"/>
            <a:ext cx="1135299" cy="14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4438896" y="2099593"/>
            <a:ext cx="1135299" cy="33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Componente React publicado como módulo NPM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4403" y="3077776"/>
            <a:ext cx="164262" cy="164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566437" y="3265098"/>
            <a:ext cx="1135300" cy="14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Arquetipos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66437" y="3452826"/>
            <a:ext cx="1135300" cy="221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Arquetipos Maven base para proyectos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8869" y="3077776"/>
            <a:ext cx="164262" cy="164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4433618" y="3265098"/>
            <a:ext cx="1135300" cy="14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Branching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4433618" y="3452826"/>
            <a:ext cx="1135300" cy="221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Estrategia GitHub Flow para ramas y PR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6016005" y="1327993"/>
            <a:ext cx="2690813" cy="1163538"/>
          </a:xfrm>
          <a:prstGeom prst="roundRect">
            <a:avLst>
              <a:gd fmla="val 5894" name="adj"/>
            </a:avLst>
          </a:prstGeom>
          <a:solidFill>
            <a:srgbClr val="272525"/>
          </a:solidFill>
          <a:ln cap="flat" cmpd="sng" w="1427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001717" y="1327993"/>
            <a:ext cx="57150" cy="1163538"/>
          </a:xfrm>
          <a:prstGeom prst="roundRect">
            <a:avLst>
              <a:gd fmla="val 92791" name="adj"/>
            </a:avLst>
          </a:prstGeom>
          <a:solidFill>
            <a:srgbClr val="2B0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6199361" y="1468487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199361" y="1778198"/>
            <a:ext cx="2366963" cy="572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 BFF + 2 Microservicios independientes con base de datos separada.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016005" y="2603971"/>
            <a:ext cx="2690813" cy="972592"/>
          </a:xfrm>
          <a:prstGeom prst="roundRect">
            <a:avLst>
              <a:gd fmla="val 7051" name="adj"/>
            </a:avLst>
          </a:prstGeom>
          <a:solidFill>
            <a:srgbClr val="272525"/>
          </a:solidFill>
          <a:ln cap="flat" cmpd="sng" w="1427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001717" y="2603971"/>
            <a:ext cx="57150" cy="972592"/>
          </a:xfrm>
          <a:prstGeom prst="roundRect">
            <a:avLst>
              <a:gd fmla="val 92791" name="adj"/>
            </a:avLst>
          </a:prstGeom>
          <a:solidFill>
            <a:srgbClr val="2B0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199361" y="2744465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199361" y="3054176"/>
            <a:ext cx="2366963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Componente React publicado como módulo NPM reutilizable.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016005" y="3689003"/>
            <a:ext cx="2690813" cy="972592"/>
          </a:xfrm>
          <a:prstGeom prst="roundRect">
            <a:avLst>
              <a:gd fmla="val 7051" name="adj"/>
            </a:avLst>
          </a:prstGeom>
          <a:solidFill>
            <a:srgbClr val="272525"/>
          </a:solidFill>
          <a:ln cap="flat" cmpd="sng" w="1427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6001717" y="3689003"/>
            <a:ext cx="57150" cy="972592"/>
          </a:xfrm>
          <a:prstGeom prst="roundRect">
            <a:avLst>
              <a:gd fmla="val 92791" name="adj"/>
            </a:avLst>
          </a:prstGeom>
          <a:solidFill>
            <a:srgbClr val="2B0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199361" y="3829496"/>
            <a:ext cx="1578248" cy="197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Maven &amp; GitHub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199361" y="4139208"/>
            <a:ext cx="2366963" cy="381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Arquetipos Maven base y estrategia GitHub Flow implementados.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827336" y="310902"/>
            <a:ext cx="817513" cy="197197"/>
          </a:xfrm>
          <a:prstGeom prst="roundRect">
            <a:avLst>
              <a:gd fmla="val 18494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897210" y="348183"/>
            <a:ext cx="677763" cy="12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650"/>
              <a:buFont typeface="Inter"/>
              <a:buNone/>
            </a:pPr>
            <a:r>
              <a:rPr b="0" i="0" lang="en-US" sz="65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ARQUITECTURA</a:t>
            </a:r>
            <a:endParaRPr b="0" i="0" sz="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27336" y="541288"/>
            <a:ext cx="4369519" cy="33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Arquitectura General del Sistema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336" y="913656"/>
            <a:ext cx="7489254" cy="342743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6313253" y="1367506"/>
            <a:ext cx="1656708" cy="207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Microservicios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313253" y="1633500"/>
            <a:ext cx="1826060" cy="2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Proyecto y Recurso, cada uno con BD propia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1026515" y="2494067"/>
            <a:ext cx="1656708" cy="207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BFF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1004426" y="2760061"/>
            <a:ext cx="1678797" cy="2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Orquesta llamadas a microservicios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313253" y="3075756"/>
            <a:ext cx="1656708" cy="207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Frontend React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6313253" y="3341749"/>
            <a:ext cx="1826060" cy="292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Módulo NPM que consume el BFF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27336" y="4526012"/>
            <a:ext cx="7489254" cy="30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Cada capa tiene responsabilidades bien definidas: el </a:t>
            </a:r>
            <a:r>
              <a:rPr b="1" i="0" lang="en-US" sz="8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r>
              <a:rPr b="0" i="0" lang="en-US" sz="8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consume el </a:t>
            </a:r>
            <a:r>
              <a:rPr b="1" i="0" lang="en-US" sz="8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BFF</a:t>
            </a:r>
            <a:r>
              <a:rPr b="0" i="0" lang="en-US" sz="8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, que orquesta las llamadas a los </a:t>
            </a:r>
            <a:r>
              <a:rPr b="1" i="0" lang="en-US" sz="8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Microservicios</a:t>
            </a:r>
            <a:r>
              <a:rPr b="0" i="0" lang="en-US" sz="8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, cada uno con su propia base de datos independiente.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title="Diagrama sin título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4025"/>
            <a:ext cx="8839202" cy="4035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/>
          <p:nvPr/>
        </p:nvSpPr>
        <p:spPr>
          <a:xfrm>
            <a:off x="434132" y="404887"/>
            <a:ext cx="1235199" cy="232842"/>
          </a:xfrm>
          <a:prstGeom prst="roundRect">
            <a:avLst>
              <a:gd fmla="val 17900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13308" y="446856"/>
            <a:ext cx="1076846" cy="148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PATRONES DE DISEÑO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434132" y="681112"/>
            <a:ext cx="7570291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Patrones de Diseño Implementados en el Proyecto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434132" y="1231404"/>
            <a:ext cx="8275737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Para asegurar un sistema robusto, mantenible y escalable, hemos aplicado patrones de diseño específicos en cada capa de la arquitectura.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32" y="153947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/>
          <p:nvPr/>
        </p:nvSpPr>
        <p:spPr>
          <a:xfrm>
            <a:off x="434132" y="1985218"/>
            <a:ext cx="193990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Backend (Microservicios)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34132" y="2244179"/>
            <a:ext cx="2668116" cy="24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•"/>
            </a:pPr>
            <a:r>
              <a:rPr b="1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Repository Pattern:</a:t>
            </a:r>
            <a:r>
              <a:rPr b="0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Implementado en `ProyectoRepository` y `RecursoRepository` extendiendo `JpaRepository`. Simplifica el acceso a datos.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•"/>
            </a:pPr>
            <a:r>
              <a:rPr b="1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Factory Method:</a:t>
            </a:r>
            <a:r>
              <a:rPr b="0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Usado en `ProyectoFactory` y `RecursoFactory` para encapsular la lógica de creación de objetos.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•"/>
            </a:pPr>
            <a:r>
              <a:rPr b="1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DTO Pattern:</a:t>
            </a:r>
            <a:r>
              <a:rPr b="0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Con `ProyectoRequest`, `ProyectoResponse`, etc., separamos las entidades del dominio de las respuestas al cliente, protegiendo datos sensibles.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7905" y="153947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3237905" y="1985218"/>
            <a:ext cx="209096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BFF – Backend For Frontend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3237905" y="2244179"/>
            <a:ext cx="2668116" cy="930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•"/>
            </a:pPr>
            <a:r>
              <a:rPr b="1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Circuit Breaker Pattern:</a:t>
            </a:r>
            <a:r>
              <a:rPr b="0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Implementado con Resilience4j (`@CircuitBreaker`) para mejorar la resiliencia. Métodos de fallback (`proyectosFallback`) garantizan la continuidad del servicio ante fallos.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5" name="Google Shape;1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1678" y="153947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6041678" y="1985218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6041678" y="2244179"/>
            <a:ext cx="2668116" cy="1712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•"/>
            </a:pPr>
            <a:r>
              <a:rPr b="1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Component-Based Architecture:</a:t>
            </a:r>
            <a:r>
              <a:rPr b="0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Desarrollo modular con componentes reutilizables como `ProjectCard.jsx`, publicado como módulo NPM.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Char char="•"/>
            </a:pPr>
            <a:r>
              <a:rPr b="1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Observer Pattern:</a:t>
            </a:r>
            <a:r>
              <a:rPr b="0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Utilizado con `useState` y `useEffect` en React para reaccionar a cambios en los datos y actualizar la UI de forma eficiente, cargando datos del BFF.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323329" y="119396"/>
            <a:ext cx="2129416" cy="206427"/>
          </a:xfrm>
          <a:prstGeom prst="roundRect">
            <a:avLst>
              <a:gd fmla="val 19153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382562" y="210182"/>
            <a:ext cx="3285796" cy="245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ESTRATEGIA DE DESARROLLO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42869" y="609674"/>
            <a:ext cx="7058392" cy="283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Estrategia de Branching - GitHub Flow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42869" y="1066084"/>
            <a:ext cx="8551731" cy="260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 eligió GitHub Flow por su simplicidad frente a Git Flow y Trunk-Based Development (Mainline Developmen</a:t>
            </a:r>
            <a:r>
              <a:rPr lang="en-U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), permitiendo trabajar en ramas cortas y mantener main estable. </a:t>
            </a:r>
            <a:endParaRPr i="0" sz="1050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342869" y="1444069"/>
            <a:ext cx="8497344" cy="304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Trabajamos con ramas específicas como </a:t>
            </a:r>
            <a:r>
              <a:rPr b="0" i="0" lang="en-US" sz="1050" u="none" cap="none" strike="noStrike">
                <a:solidFill>
                  <a:srgbClr val="E5E0DF"/>
                </a:solidFill>
                <a:highlight>
                  <a:srgbClr val="343232"/>
                </a:highlight>
                <a:latin typeface="Consolas"/>
                <a:ea typeface="Consolas"/>
                <a:cs typeface="Consolas"/>
                <a:sym typeface="Consolas"/>
              </a:rPr>
              <a:t>feature/proyecto-entidad</a:t>
            </a: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050" u="none" cap="none" strike="noStrike">
                <a:solidFill>
                  <a:srgbClr val="E5E0DF"/>
                </a:solidFill>
                <a:highlight>
                  <a:srgbClr val="343232"/>
                </a:highlight>
                <a:latin typeface="Consolas"/>
                <a:ea typeface="Consolas"/>
                <a:cs typeface="Consolas"/>
                <a:sym typeface="Consolas"/>
              </a:rPr>
              <a:t>feature/bff-orquestacion</a:t>
            </a: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050" u="none" cap="none" strike="noStrike">
                <a:solidFill>
                  <a:srgbClr val="E5E0DF"/>
                </a:solidFill>
                <a:highlight>
                  <a:srgbClr val="343232"/>
                </a:highlight>
                <a:latin typeface="Consolas"/>
                <a:ea typeface="Consolas"/>
                <a:cs typeface="Consolas"/>
                <a:sym typeface="Consolas"/>
              </a:rPr>
              <a:t>feature/jwt-auth</a:t>
            </a: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para un desarrollo modular y aislado.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869" y="1887685"/>
            <a:ext cx="454075" cy="54486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855061" y="1978470"/>
            <a:ext cx="1135187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1. Crear Rama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855061" y="2155278"/>
            <a:ext cx="5754365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Se inicia una nueva rama </a:t>
            </a:r>
            <a:r>
              <a:rPr b="0" i="0" lang="en-US" sz="1050" u="none" cap="none" strike="noStrike">
                <a:solidFill>
                  <a:srgbClr val="E5E0DF"/>
                </a:solidFill>
                <a:highlight>
                  <a:srgbClr val="343232"/>
                </a:highlight>
                <a:latin typeface="Consolas"/>
                <a:ea typeface="Consolas"/>
                <a:cs typeface="Consolas"/>
                <a:sym typeface="Consolas"/>
              </a:rPr>
              <a:t>feature/</a:t>
            </a: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b="0" i="0" lang="en-US" sz="1050" u="none" cap="none" strike="noStrike">
                <a:solidFill>
                  <a:srgbClr val="E5E0DF"/>
                </a:solidFill>
                <a:highlight>
                  <a:srgbClr val="343232"/>
                </a:highlight>
                <a:latin typeface="Consolas"/>
                <a:ea typeface="Consolas"/>
                <a:cs typeface="Consolas"/>
                <a:sym typeface="Consolas"/>
              </a:rPr>
              <a:t>bugfix/</a:t>
            </a: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desde </a:t>
            </a:r>
            <a:r>
              <a:rPr b="0" i="0" lang="en-US" sz="1050" u="none" cap="none" strike="noStrike">
                <a:solidFill>
                  <a:srgbClr val="E5E0DF"/>
                </a:solidFill>
                <a:highlight>
                  <a:srgbClr val="343232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869" y="2432544"/>
            <a:ext cx="454075" cy="54486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855061" y="2523330"/>
            <a:ext cx="1135187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2. Desarrollar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855061" y="2700137"/>
            <a:ext cx="5754365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Implementación de funcionalidades o correcciones en la rama dedicada.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869" y="2977404"/>
            <a:ext cx="454075" cy="5448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/>
          <p:nvPr/>
        </p:nvSpPr>
        <p:spPr>
          <a:xfrm>
            <a:off x="855061" y="3068189"/>
            <a:ext cx="1135187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3. Pull Request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855061" y="3244997"/>
            <a:ext cx="5754365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Se abre un PR para integrar los cambios en </a:t>
            </a:r>
            <a:r>
              <a:rPr b="0" i="0" lang="en-US" sz="1050" u="none" cap="none" strike="noStrike">
                <a:solidFill>
                  <a:srgbClr val="E5E0DF"/>
                </a:solidFill>
                <a:highlight>
                  <a:srgbClr val="343232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7" name="Google Shape;1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869" y="3522264"/>
            <a:ext cx="454075" cy="5448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/>
          <p:nvPr/>
        </p:nvSpPr>
        <p:spPr>
          <a:xfrm>
            <a:off x="855061" y="3613049"/>
            <a:ext cx="1135187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4. Code Review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855061" y="3789857"/>
            <a:ext cx="5754365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Revisión por pares para asegurar la calidad y consistencia del código.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0" name="Google Shape;18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2869" y="4067124"/>
            <a:ext cx="454075" cy="54486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/>
          <p:nvPr/>
        </p:nvSpPr>
        <p:spPr>
          <a:xfrm>
            <a:off x="855061" y="4157909"/>
            <a:ext cx="1135187" cy="141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5. Merge a Main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855061" y="4334717"/>
            <a:ext cx="5754365" cy="11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Tras la aprobación, los cambios se fusionan en la rama principal.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927793" y="1978470"/>
            <a:ext cx="1363266" cy="170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Beneficios Logrados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927800" y="2235954"/>
            <a:ext cx="26871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Mejor colaboración y paralelización del trabajo.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Control de versiones claro y transparente.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Historial del Proyecto mantenible y fácil de rastrear.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110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4783" y="352127"/>
            <a:ext cx="3329434" cy="443924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348853" y="332780"/>
            <a:ext cx="510704" cy="177850"/>
          </a:xfrm>
          <a:prstGeom prst="roundRect">
            <a:avLst>
              <a:gd fmla="val 18832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13370" y="367382"/>
            <a:ext cx="381670" cy="10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48853" y="538609"/>
            <a:ext cx="2491978" cy="311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Microservicios</a:t>
            </a:r>
            <a:endParaRPr b="0" i="0" sz="1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48853" y="955179"/>
            <a:ext cx="5017294" cy="911349"/>
          </a:xfrm>
          <a:prstGeom prst="roundRect">
            <a:avLst>
              <a:gd fmla="val 4594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53256" y="1059582"/>
            <a:ext cx="298996" cy="298996"/>
          </a:xfrm>
          <a:prstGeom prst="roundRect">
            <a:avLst>
              <a:gd fmla="val 19112057" name="adj"/>
            </a:avLst>
          </a:prstGeom>
          <a:solidFill>
            <a:srgbClr val="2B0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484" y="1141809"/>
            <a:ext cx="134541" cy="134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/>
          <p:nvPr/>
        </p:nvSpPr>
        <p:spPr>
          <a:xfrm>
            <a:off x="453256" y="1428601"/>
            <a:ext cx="1245989" cy="155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Servicio Proyecto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53256" y="1626319"/>
            <a:ext cx="4808488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Gestión completa del ciclo de vida de proyectos tecnológicos.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348853" y="1936552"/>
            <a:ext cx="5017294" cy="911349"/>
          </a:xfrm>
          <a:prstGeom prst="roundRect">
            <a:avLst>
              <a:gd fmla="val 4594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53256" y="2040954"/>
            <a:ext cx="298996" cy="298996"/>
          </a:xfrm>
          <a:prstGeom prst="roundRect">
            <a:avLst>
              <a:gd fmla="val 19112057" name="adj"/>
            </a:avLst>
          </a:prstGeom>
          <a:solidFill>
            <a:srgbClr val="2B0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484" y="2123182"/>
            <a:ext cx="134541" cy="13454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453256" y="2409974"/>
            <a:ext cx="1245989" cy="155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Servicio Recurso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53256" y="2607692"/>
            <a:ext cx="4808488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Administración de recursos humanos y técnicos asignados.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48853" y="2917924"/>
            <a:ext cx="5017294" cy="911349"/>
          </a:xfrm>
          <a:prstGeom prst="roundRect">
            <a:avLst>
              <a:gd fmla="val 4594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53256" y="3022327"/>
            <a:ext cx="298996" cy="298996"/>
          </a:xfrm>
          <a:prstGeom prst="roundRect">
            <a:avLst>
              <a:gd fmla="val 19112057" name="adj"/>
            </a:avLst>
          </a:prstGeom>
          <a:solidFill>
            <a:srgbClr val="2B0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484" y="3104555"/>
            <a:ext cx="134541" cy="13454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453256" y="3391346"/>
            <a:ext cx="1245989" cy="155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Patrones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53256" y="3589065"/>
            <a:ext cx="4808488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Repository, Factory Method y DTO aplicados consistentemente.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348853" y="3899297"/>
            <a:ext cx="5017294" cy="911349"/>
          </a:xfrm>
          <a:prstGeom prst="roundRect">
            <a:avLst>
              <a:gd fmla="val 4594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53256" y="4003700"/>
            <a:ext cx="298996" cy="298996"/>
          </a:xfrm>
          <a:prstGeom prst="roundRect">
            <a:avLst>
              <a:gd fmla="val 19112057" name="adj"/>
            </a:avLst>
          </a:prstGeom>
          <a:solidFill>
            <a:srgbClr val="2B0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484" y="4085927"/>
            <a:ext cx="134541" cy="13454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/>
          <p:nvPr/>
        </p:nvSpPr>
        <p:spPr>
          <a:xfrm>
            <a:off x="453256" y="4372719"/>
            <a:ext cx="1245989" cy="155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53256" y="4570437"/>
            <a:ext cx="4808488" cy="13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JWT Authentication + Database-per-Service para aislamiento total.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98075" y="2952738"/>
            <a:ext cx="4676851" cy="18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/>
          <p:nvPr/>
        </p:nvSpPr>
        <p:spPr>
          <a:xfrm>
            <a:off x="496119" y="604019"/>
            <a:ext cx="722337" cy="275927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85936" y="651272"/>
            <a:ext cx="542702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96119" y="936650"/>
            <a:ext cx="4780062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BFF – Backend For Frontend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751707"/>
            <a:ext cx="2628230" cy="2628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120" y="1882378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3935685" y="187798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Orquestación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935685" y="2241203"/>
            <a:ext cx="2039466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Centraliza y coordina las llamadas a Servicio Proyecto y Servicio Recurso.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5463" y="1882378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/>
          <p:nvPr/>
        </p:nvSpPr>
        <p:spPr>
          <a:xfrm>
            <a:off x="6613029" y="1877988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Endpoint Clave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6613029" y="2241203"/>
            <a:ext cx="2039541" cy="91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highlight>
                  <a:srgbClr val="343232"/>
                </a:highlight>
                <a:latin typeface="Consolas"/>
                <a:ea typeface="Consolas"/>
                <a:cs typeface="Consolas"/>
                <a:sym typeface="Consolas"/>
              </a:rPr>
              <a:t>/proyectos-con-recursos</a:t>
            </a: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consolida datos de ambos servicios en una sola respuesta.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120" y="3441129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/>
          <p:nvPr/>
        </p:nvSpPr>
        <p:spPr>
          <a:xfrm>
            <a:off x="3935685" y="3436739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Resiliencia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935685" y="3799954"/>
            <a:ext cx="471688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Circuit Breaker con </a:t>
            </a:r>
            <a:r>
              <a:rPr b="1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Resilience4j</a:t>
            </a: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y estrategia de Fallback ante fallos de servicio.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/>
          <p:nvPr/>
        </p:nvSpPr>
        <p:spPr>
          <a:xfrm>
            <a:off x="496119" y="1029742"/>
            <a:ext cx="800026" cy="275927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85936" y="1076995"/>
            <a:ext cx="620390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496119" y="1362373"/>
            <a:ext cx="3851597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Frontend: React + Vite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17961"/>
            <a:ext cx="1507480" cy="93166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/>
          <p:nvPr/>
        </p:nvSpPr>
        <p:spPr>
          <a:xfrm>
            <a:off x="496119" y="312680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Stack Tecnológico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96119" y="3433316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React + Vite para rendimiento óptimo y desarrollo ágil con hot-reload.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2433" y="2017961"/>
            <a:ext cx="1507480" cy="93166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/>
          <p:nvPr/>
        </p:nvSpPr>
        <p:spPr>
          <a:xfrm>
            <a:off x="3272433" y="3126804"/>
            <a:ext cx="217467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ProjectCard NPM Module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272433" y="3433316"/>
            <a:ext cx="259913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Componente reutilizable publicado como paquete NPM, consumible en cualquier proyecto React.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8" name="Google Shape;2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48747" y="2017961"/>
            <a:ext cx="1507480" cy="93166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/>
          <p:nvPr/>
        </p:nvSpPr>
        <p:spPr>
          <a:xfrm>
            <a:off x="6048747" y="3126804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Responsive &amp; BFF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048747" y="3433316"/>
            <a:ext cx="2599134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Diseño adaptativo en todos los dispositivos. Consume directamente los endpoints del BFF.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/>
          <p:nvPr/>
        </p:nvSpPr>
        <p:spPr>
          <a:xfrm>
            <a:off x="434132" y="360313"/>
            <a:ext cx="1149400" cy="232842"/>
          </a:xfrm>
          <a:prstGeom prst="roundRect">
            <a:avLst>
              <a:gd fmla="val 17900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13308" y="402282"/>
            <a:ext cx="991046" cy="148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BUENAS PRÁCTICAS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434132" y="636538"/>
            <a:ext cx="5631805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Arquetipos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344835" y="1186830"/>
            <a:ext cx="4165178" cy="3596357"/>
          </a:xfrm>
          <a:prstGeom prst="roundRect">
            <a:avLst>
              <a:gd fmla="val 2483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468809" y="1295326"/>
            <a:ext cx="1550566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Arquetipo Maven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468809" y="1597670"/>
            <a:ext cx="3917231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Plantilla base creada con estructura estándar para todos los microservicios: carpetas predefinidas, dependencias comunes y configuración reutilizable.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2" name="Google Shape;2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809" y="2277814"/>
            <a:ext cx="2095723" cy="2383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lego, juguete&#10;&#10;El contenido generado por IA puede ser incorrecto." id="263" name="Google Shape;26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6040" y="-93166"/>
            <a:ext cx="5048250" cy="5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/>
          <p:nvPr/>
        </p:nvSpPr>
        <p:spPr>
          <a:xfrm>
            <a:off x="326644" y="145048"/>
            <a:ext cx="913800" cy="276000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416461" y="192301"/>
            <a:ext cx="7341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RESULTADOS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326644" y="477679"/>
            <a:ext cx="4515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Demostración del Sistema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326646" y="1097905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Endpoints Probados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3" name="Google Shape;27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650" y="1505325"/>
            <a:ext cx="3082500" cy="203174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4"/>
          <p:cNvSpPr/>
          <p:nvPr/>
        </p:nvSpPr>
        <p:spPr>
          <a:xfrm>
            <a:off x="1939196" y="3230088"/>
            <a:ext cx="23748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6273105" y="1059592"/>
            <a:ext cx="21852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Componente ProjectCard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8375" y="1505325"/>
            <a:ext cx="2243740" cy="195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8513" y="3589800"/>
            <a:ext cx="3891966" cy="195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59900" y="1470125"/>
            <a:ext cx="2835300" cy="14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87276" y="3146850"/>
            <a:ext cx="1085900" cy="192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110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42" y="380181"/>
            <a:ext cx="3287241" cy="43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/>
          <p:nvPr/>
        </p:nvSpPr>
        <p:spPr>
          <a:xfrm>
            <a:off x="3925119" y="691679"/>
            <a:ext cx="1081757" cy="275927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4014936" y="738932"/>
            <a:ext cx="902122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705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3925119" y="1024310"/>
            <a:ext cx="4319513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Inter"/>
              <a:buNone/>
            </a:pPr>
            <a:r>
              <a:rPr b="1" i="0" lang="en-US" sz="2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Logros</a:t>
            </a:r>
            <a:endParaRPr b="0" i="0" sz="2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3925119" y="1679897"/>
            <a:ext cx="4722763" cy="2771924"/>
          </a:xfrm>
          <a:prstGeom prst="roundRect">
            <a:avLst>
              <a:gd fmla="val 2148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3929881" y="1684660"/>
            <a:ext cx="2356619" cy="1718742"/>
          </a:xfrm>
          <a:prstGeom prst="roundRect">
            <a:avLst>
              <a:gd fmla="val 3464" name="adj"/>
            </a:avLst>
          </a:prstGeom>
          <a:solidFill>
            <a:srgbClr val="110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4071640" y="1826419"/>
            <a:ext cx="2073101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b="1" i="0" lang="en-US" sz="1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Requerimientos Cumplidos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4081340" y="2354425"/>
            <a:ext cx="20730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BFF + 2 Microservicios, NPM Module, arquetipos Maven y branching implementados al 100%.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6428250" y="1684660"/>
            <a:ext cx="2356500" cy="1718700"/>
          </a:xfrm>
          <a:prstGeom prst="rect">
            <a:avLst/>
          </a:prstGeom>
          <a:solidFill>
            <a:srgbClr val="110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6286500" y="1743594"/>
            <a:ext cx="9600" cy="2708100"/>
          </a:xfrm>
          <a:prstGeom prst="roundRect">
            <a:avLst>
              <a:gd fmla="val 312558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6428259" y="1826419"/>
            <a:ext cx="2073101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📐</a:t>
            </a:r>
            <a:r>
              <a:rPr b="1" i="0" lang="en-US" sz="135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Arquitectura Escalable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6428259" y="2354387"/>
            <a:ext cx="2073101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Diseño desacoplado y mantenible, listo para incorporar nuevos servicios sin impacto en los existentes.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3939381" y="4398202"/>
            <a:ext cx="4713300" cy="19200"/>
          </a:xfrm>
          <a:prstGeom prst="roundRect">
            <a:avLst>
              <a:gd fmla="val 312558" name="adj"/>
            </a:avLst>
          </a:prstGeom>
          <a:solidFill>
            <a:srgbClr val="2A1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